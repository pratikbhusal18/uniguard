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0">
                <a:solidFill>
                  <a:srgbClr val="FFFFFF"/>
                </a:solidFill>
              </a:defRPr>
            </a:pPr>
            <a:r>
              <a:t>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UniGuard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C63FF"/>
                </a:solidFill>
              </a:defRPr>
            </a:pPr>
            <a:r>
              <a:t>Student Success &amp; Academic Advisory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0B0C0"/>
                </a:solidFill>
              </a:defRPr>
            </a:pPr>
            <a:r>
              <a:t>Built entirely on Microsoft 365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0C0"/>
                </a:solidFill>
              </a:defRPr>
            </a:pPr>
            <a:r>
              <a:t>Copilot Studio  ·  Power Automate  ·  SharePoint  ·  Teams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C63FF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5555"/>
                </a:solidFill>
              </a:defRPr>
            </a:pPr>
            <a:r>
              <a:t>1 in 3 students drop out</a:t>
            </a:r>
          </a:p>
          <a:p>
            <a:pPr>
              <a:defRPr sz="1200" b="0">
                <a:solidFill>
                  <a:srgbClr val="FFFFFF"/>
                </a:solidFill>
              </a:defRPr>
            </a:pPr>
          </a:p>
          <a:p>
            <a:pPr>
              <a:defRPr sz="1800" b="0">
                <a:solidFill>
                  <a:srgbClr val="B0B0C0"/>
                </a:solidFill>
              </a:defRPr>
            </a:pPr>
            <a:r>
              <a:t>📊  Advisors juggle 200+ students with spreadsheets</a:t>
            </a:r>
          </a:p>
          <a:p>
            <a:pPr>
              <a:defRPr sz="800" b="0">
                <a:solidFill>
                  <a:srgbClr val="FFFFFF"/>
                </a:solidFill>
              </a:defRPr>
            </a:pPr>
          </a:p>
          <a:p>
            <a:pPr>
              <a:defRPr sz="1800" b="0">
                <a:solidFill>
                  <a:srgbClr val="B0B0C0"/>
                </a:solidFill>
              </a:defRPr>
            </a:pPr>
            <a:r>
              <a:t>⏰  Warning signs are caught weeks too late</a:t>
            </a:r>
          </a:p>
          <a:p>
            <a:pPr>
              <a:defRPr sz="800" b="0">
                <a:solidFill>
                  <a:srgbClr val="FFFFFF"/>
                </a:solidFill>
              </a:defRPr>
            </a:pPr>
          </a:p>
          <a:p>
            <a:pPr>
              <a:defRPr sz="1800" b="0">
                <a:solidFill>
                  <a:srgbClr val="B0B0C0"/>
                </a:solidFill>
              </a:defRPr>
            </a:pPr>
            <a:r>
              <a:t>🔇  No attendance tracking in most in-person classes</a:t>
            </a:r>
          </a:p>
          <a:p>
            <a:pPr>
              <a:defRPr sz="800" b="0">
                <a:solidFill>
                  <a:srgbClr val="FFFFFF"/>
                </a:solidFill>
              </a:defRPr>
            </a:pPr>
          </a:p>
          <a:p>
            <a:pPr>
              <a:defRPr sz="1800" b="0">
                <a:solidFill>
                  <a:srgbClr val="B0B0C0"/>
                </a:solidFill>
              </a:defRPr>
            </a:pPr>
            <a:r>
              <a:t>📧  Outreach is manual, generic, and slow</a:t>
            </a:r>
          </a:p>
          <a:p>
            <a:pPr>
              <a:defRPr sz="800" b="0">
                <a:solidFill>
                  <a:srgbClr val="FFFFFF"/>
                </a:solidFill>
              </a:defRPr>
            </a:pPr>
          </a:p>
          <a:p>
            <a:pPr>
              <a:defRPr sz="1800" b="0">
                <a:solidFill>
                  <a:srgbClr val="B0B0C0"/>
                </a:solidFill>
              </a:defRPr>
            </a:pPr>
            <a:r>
              <a:t>🏫  Every university has the data — nobody connects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The timeline today:</a:t>
            </a:r>
          </a:p>
          <a:p>
            <a:pPr>
              <a:defRPr sz="1000" b="0">
                <a:solidFill>
                  <a:srgbClr val="FFFFFF"/>
                </a:solidFill>
              </a:defRPr>
            </a:pPr>
          </a:p>
          <a:p>
            <a:pPr>
              <a:defRPr sz="1600" b="0">
                <a:solidFill>
                  <a:srgbClr val="B0B0C0"/>
                </a:solidFill>
              </a:defRPr>
            </a:pPr>
            <a:r>
              <a:t>Week 1-3    Student starts missing assignments</a:t>
            </a:r>
          </a:p>
          <a:p>
            <a:pPr>
              <a:defRPr sz="1600" b="0">
                <a:solidFill>
                  <a:srgbClr val="B0B0C0"/>
                </a:solidFill>
              </a:defRPr>
            </a:pPr>
            <a:r>
              <a:t>Week 4-6    Grades drop, disengagement grows</a:t>
            </a:r>
          </a:p>
          <a:p>
            <a:pPr>
              <a:defRPr sz="1600" b="0">
                <a:solidFill>
                  <a:srgbClr val="FFD700"/>
                </a:solidFill>
              </a:defRPr>
            </a:pPr>
            <a:r>
              <a:t>Week 7-8    Midterm grades post — advisor finally sees it</a:t>
            </a:r>
          </a:p>
          <a:p>
            <a:pPr>
              <a:defRPr sz="1600" b="0">
                <a:solidFill>
                  <a:srgbClr val="FF5555"/>
                </a:solidFill>
              </a:defRPr>
            </a:pPr>
            <a:r>
              <a:t>Week 9+     Too late — student fails or drops out</a:t>
            </a:r>
          </a:p>
          <a:p>
            <a:pPr>
              <a:defRPr sz="1400" b="0">
                <a:solidFill>
                  <a:srgbClr val="FFFFFF"/>
                </a:solidFill>
              </a:defRPr>
            </a:pPr>
          </a:p>
          <a:p>
            <a:pPr>
              <a:defRPr sz="2000" b="1">
                <a:solidFill>
                  <a:srgbClr val="4EC9B0"/>
                </a:solidFill>
              </a:defRPr>
            </a:pPr>
            <a:r>
              <a:t>With UniGuard:</a:t>
            </a:r>
          </a:p>
          <a:p>
            <a:pPr>
              <a:defRPr sz="1600" b="0">
                <a:solidFill>
                  <a:srgbClr val="4EC9B0"/>
                </a:solidFill>
              </a:defRPr>
            </a:pPr>
            <a:r>
              <a:t>Week 1-3    Auto-detected. Advisor notified. Action taken.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C63FF"/>
                </a:solidFill>
              </a:defRPr>
            </a:pPr>
            <a:r>
              <a:t>What UniGuard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</a:defRPr>
            </a:pPr>
            <a:r>
              <a:t>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645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5555"/>
                </a:solidFill>
              </a:defRPr>
            </a:pPr>
            <a:r>
              <a:t>Early Alerts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1031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</a:defRPr>
            </a:pPr>
            <a:r>
              <a:t>Detects at-risk students by engagement score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6459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</a:defRPr>
            </a:pPr>
            <a:r>
              <a:t>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59" y="1645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559FFF"/>
                </a:solidFill>
              </a:defRPr>
            </a:pPr>
            <a:r>
              <a:t>Student Pulse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59" y="21031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</a:defRPr>
            </a:pPr>
            <a:r>
              <a:t>Full student profile — grades, goals, interventions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16459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</a:defRPr>
            </a:pPr>
            <a:r>
              <a:t>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1645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9B0"/>
                </a:solidFill>
              </a:defRPr>
            </a:pPr>
            <a:r>
              <a:t>Smart Outreach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21031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</a:defRPr>
            </a:pPr>
            <a:r>
              <a:t>Drafts personalized emails using real academic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9319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</a:defRPr>
            </a:pPr>
            <a:r>
              <a:t>🗺️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931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700"/>
                </a:solidFill>
              </a:defRPr>
            </a:pPr>
            <a:r>
              <a:t>Degree Progress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3891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</a:defRPr>
            </a:pPr>
            <a:r>
              <a:t>Maps completed vs remaining courses to graduation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9319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</a:defRPr>
            </a:pPr>
            <a:r>
              <a:t>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59" y="3931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C63FF"/>
                </a:solidFill>
              </a:defRPr>
            </a:pPr>
            <a:r>
              <a:t>Course Advisor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59" y="43891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</a:defRPr>
            </a:pPr>
            <a:r>
              <a:t>Prereq-aware recommendations aligned to career goals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39319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</a:defRPr>
            </a:pPr>
            <a:r>
              <a:t>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3931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A050"/>
                </a:solidFill>
              </a:defRPr>
            </a:pPr>
            <a:r>
              <a:t>Reports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43891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</a:defRPr>
            </a:pPr>
            <a:r>
              <a:t>Class, department, and cohort performance summaries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C63FF"/>
                </a:solidFill>
              </a:defRPr>
            </a:pPr>
            <a:r>
              <a:t>Engagement Score — Not Attendance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0C0"/>
                </a:solidFill>
              </a:defRPr>
            </a:pPr>
            <a:r>
              <a:t>Most in-person classes don't track attendance. UniGuard uses signals every university already has.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The Formula</a:t>
            </a:r>
          </a:p>
          <a:p>
            <a:pPr>
              <a:defRPr sz="1000" b="0">
                <a:solidFill>
                  <a:srgbClr val="FFFFFF"/>
                </a:solidFill>
              </a:defRPr>
            </a:pPr>
          </a:p>
          <a:p>
            <a:pPr>
              <a:defRPr sz="1800" b="0">
                <a:solidFill>
                  <a:srgbClr val="4EC9B0"/>
                </a:solidFill>
              </a:defRPr>
            </a:pPr>
            <a:r>
              <a:t>40%   Assignment completion &amp; timeliness</a:t>
            </a:r>
          </a:p>
          <a:p>
            <a:pPr>
              <a:defRPr sz="1800" b="0">
                <a:solidFill>
                  <a:srgbClr val="559FFF"/>
                </a:solidFill>
              </a:defRPr>
            </a:pPr>
            <a:r>
              <a:t>30%   Grade performance vs passing</a:t>
            </a:r>
          </a:p>
          <a:p>
            <a:pPr>
              <a:defRPr sz="1800" b="0">
                <a:solidFill>
                  <a:srgbClr val="FFD700"/>
                </a:solidFill>
              </a:defRPr>
            </a:pPr>
            <a:r>
              <a:t>20%   LMS activity (logins, resource access)</a:t>
            </a:r>
          </a:p>
          <a:p>
            <a:pPr>
              <a:defRPr sz="1800" b="0">
                <a:solidFill>
                  <a:srgbClr val="B0B0C0"/>
                </a:solidFill>
              </a:defRPr>
            </a:pPr>
            <a:r>
              <a:t>10%   Attendance (if available — optional)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2860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Risk Levels</a:t>
            </a:r>
          </a:p>
          <a:p>
            <a:pPr>
              <a:defRPr sz="1000" b="0">
                <a:solidFill>
                  <a:srgbClr val="FFFFFF"/>
                </a:solidFill>
              </a:defRPr>
            </a:pPr>
          </a:p>
          <a:p>
            <a:pPr>
              <a:defRPr sz="2000" b="0">
                <a:solidFill>
                  <a:srgbClr val="4EC9B0"/>
                </a:solidFill>
              </a:defRPr>
            </a:pPr>
            <a:r>
              <a:t>🟢  75-100    On Track</a:t>
            </a:r>
          </a:p>
          <a:p>
            <a:pPr>
              <a:defRPr sz="2000" b="0">
                <a:solidFill>
                  <a:srgbClr val="FFD700"/>
                </a:solidFill>
              </a:defRPr>
            </a:pPr>
            <a:r>
              <a:t>🟡  60-74      Needs Monitoring</a:t>
            </a:r>
          </a:p>
          <a:p>
            <a:pPr>
              <a:defRPr sz="2000" b="0">
                <a:solidFill>
                  <a:srgbClr val="FFA050"/>
                </a:solidFill>
              </a:defRPr>
            </a:pPr>
            <a:r>
              <a:t>🟠  40-59     At Risk</a:t>
            </a:r>
          </a:p>
          <a:p>
            <a:pPr>
              <a:defRPr sz="2000" b="0">
                <a:solidFill>
                  <a:srgbClr val="FF5555"/>
                </a:solidFill>
              </a:defRPr>
            </a:pPr>
            <a:r>
              <a:t>🔴  0-39       Critical — Immediate Action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C63FF"/>
                </a:solidFill>
              </a:defRPr>
            </a:pPr>
            <a:r>
              <a:t>5 Personas, 1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645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</a:defRPr>
            </a:pPr>
            <a:r>
              <a:t>👩‍🏫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2286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Faculty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27432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C63FF"/>
                </a:solidFill>
              </a:defRPr>
            </a:pPr>
            <a:r>
              <a:t>"Who's struggling in my BIO301?"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34747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C0"/>
                </a:solidFill>
              </a:defRPr>
            </a:pPr>
            <a:r>
              <a:t>Sees their classes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645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</a:defRPr>
            </a:pPr>
            <a:r>
              <a:t>🧑‍💼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79" y="2286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Advisors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79" y="27432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C63FF"/>
                </a:solidFill>
              </a:defRPr>
            </a:pPr>
            <a:r>
              <a:t>"Show my at-risk advisees"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79" y="34747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C0"/>
                </a:solidFill>
              </a:defRPr>
            </a:pPr>
            <a:r>
              <a:t>Full cross-class view of caseload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645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</a:defRPr>
            </a:pPr>
            <a:r>
              <a:t>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286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Students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7432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C63FF"/>
                </a:solidFill>
              </a:defRPr>
            </a:pPr>
            <a:r>
              <a:t>"Am I on track to graduate?"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4747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C0"/>
                </a:solidFill>
              </a:defRPr>
            </a:pPr>
            <a:r>
              <a:t>Own data only (FERPA)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1645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</a:defRPr>
            </a:pPr>
            <a:r>
              <a:t>🏛️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2286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Deans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27432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C63FF"/>
                </a:solidFill>
              </a:defRPr>
            </a:pPr>
            <a:r>
              <a:t>"Biology department report"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34747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C0"/>
                </a:solidFill>
              </a:defRPr>
            </a:pPr>
            <a:r>
              <a:t>Aggregated department stats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1645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</a:defRPr>
            </a:pPr>
            <a:r>
              <a:t>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2286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IT Admins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27432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C63FF"/>
                </a:solidFill>
              </a:defRPr>
            </a:pPr>
            <a:r>
              <a:t>Manages config + compliance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34747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C0"/>
                </a:solidFill>
              </a:defRPr>
            </a:pPr>
            <a:r>
              <a:t>Full access, no student chat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EC9B0"/>
                </a:solidFill>
              </a:defRPr>
            </a:pPr>
            <a:r>
              <a:t>Privacy enforced at the flow level — the AI never receives unauthorized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C63FF"/>
                </a:solidFill>
              </a:defRPr>
            </a:pPr>
            <a:r>
              <a:t>Demo: Advisor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6C63FF"/>
                </a:solidFill>
              </a:defRPr>
            </a:pPr>
            <a:r>
              <a:t>Show me at-risk students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</a:defRPr>
            </a:pPr>
            <a:r>
              <a:t>You have 3 students needing attention:</a:t>
            </a:r>
            <a:br/>
            <a:br/>
            <a:r>
              <a:t>🔴 Amber Rodriguez — Engagement: 34%</a:t>
            </a:r>
            <a:br/>
            <a:r>
              <a:t>     0 of last 3 assignments submitted, GPA: 1.8</a:t>
            </a:r>
            <a:br/>
            <a:br/>
            <a:r>
              <a:t>🟠 Dakota Sanchez — Engagement: 61%</a:t>
            </a:r>
            <a:br/>
            <a:r>
              <a:t>     2 late submissions, grade trending down</a:t>
            </a:r>
            <a:br/>
            <a:br/>
            <a:r>
              <a:t>🟡 Omar Bennett — Engagement: 68%</a:t>
            </a:r>
            <a:br/>
            <a:r>
              <a:t>     GPA dropped from 3.0 to 2.5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4114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6C63FF"/>
                </a:solidFill>
              </a:defRPr>
            </a:pPr>
            <a:r>
              <a:t>Tell me more about Amber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</a:defRPr>
            </a:pPr>
            <a:r>
              <a:t>🎓 Amber Rodriguez (STU003) — Biology, Pre-Med</a:t>
            </a:r>
            <a:br/>
            <a:r>
              <a:t>     GPA: 1.8 (was 2.4) · Engagement: 34% 🔴</a:t>
            </a:r>
            <a:br/>
            <a:r>
              <a:t>     Career goal: Medical school</a:t>
            </a:r>
            <a:br/>
            <a:r>
              <a:t>     3 interventions attempted — no improvement yet</a:t>
            </a:r>
            <a:br/>
            <a:br/>
            <a:r>
              <a:t>     💡 Recommend: Mandatory tutoring + reduced course load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C63FF"/>
                </a:solidFill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463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559FFF"/>
                </a:solidFill>
              </a:defRPr>
            </a:pPr>
            <a:r>
              <a:t>Microsoft Teams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783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</a:defRPr>
            </a:pPr>
            <a:r>
              <a:t>Chat interface for all personas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21031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B0C0"/>
                </a:solidFill>
              </a:defRPr>
            </a:pPr>
            <a:r>
              <a:t>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377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C63FF"/>
                </a:solidFill>
              </a:defRPr>
            </a:pPr>
            <a:r>
              <a:t>Copilot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697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</a:defRPr>
            </a:pPr>
            <a:r>
              <a:t>Agent + Topics + Generative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3017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B0C0"/>
                </a:solidFill>
              </a:defRPr>
            </a:pPr>
            <a:r>
              <a:t>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2918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9B0"/>
                </a:solidFill>
              </a:defRPr>
            </a:pPr>
            <a:r>
              <a:t>Power Automate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611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</a:defRPr>
            </a:pPr>
            <a:r>
              <a:t>GetStudentContext flow (role-filtered)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9319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B0C0"/>
                </a:solidFill>
              </a:defRPr>
            </a:pPr>
            <a:r>
              <a:t>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2062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700"/>
                </a:solidFill>
              </a:defRPr>
            </a:pPr>
            <a:r>
              <a:t>SharePoint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52627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</a:defRPr>
            </a:pPr>
            <a:r>
              <a:t>9 lists — the brain (profiles, enrollments, plans, alerts)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4846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B0C0"/>
                </a:solidFill>
              </a:defRPr>
            </a:pPr>
            <a:r>
              <a:t>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51206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A050"/>
                </a:solidFill>
              </a:defRPr>
            </a:pPr>
            <a:r>
              <a:t>Graph Education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44067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</a:defRPr>
            </a:pPr>
            <a:r>
              <a:t>Production: SIS → School Data Sync → M365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46304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</a:defRPr>
            </a:pPr>
            <a:r>
              <a:t>SharePoint Brain (9 Lists)</a:t>
            </a:r>
          </a:p>
          <a:p>
            <a:pPr>
              <a:defRPr sz="800" b="0">
                <a:solidFill>
                  <a:srgbClr val="FFFFFF"/>
                </a:solidFill>
              </a:defRPr>
            </a:pPr>
          </a:p>
          <a:p>
            <a:pPr>
              <a:defRPr sz="1400" b="0">
                <a:solidFill>
                  <a:srgbClr val="B0B0C0"/>
                </a:solidFill>
              </a:defRPr>
            </a:pPr>
            <a:r>
              <a:t>📋 Student Profiles</a:t>
            </a:r>
          </a:p>
          <a:p>
            <a:pPr>
              <a:defRPr sz="1400" b="0">
                <a:solidFill>
                  <a:srgbClr val="B0B0C0"/>
                </a:solidFill>
              </a:defRPr>
            </a:pPr>
            <a:r>
              <a:t>📋 Course Catalog</a:t>
            </a:r>
          </a:p>
          <a:p>
            <a:pPr>
              <a:defRPr sz="1400" b="0">
                <a:solidFill>
                  <a:srgbClr val="B0B0C0"/>
                </a:solidFill>
              </a:defRPr>
            </a:pPr>
            <a:r>
              <a:t>📋 Degree Plans</a:t>
            </a:r>
          </a:p>
          <a:p>
            <a:pPr>
              <a:defRPr sz="1400" b="0">
                <a:solidFill>
                  <a:srgbClr val="B0B0C0"/>
                </a:solidFill>
              </a:defRPr>
            </a:pPr>
            <a:r>
              <a:t>📋 Student Enrollments</a:t>
            </a:r>
          </a:p>
          <a:p>
            <a:pPr>
              <a:defRPr sz="1400" b="0">
                <a:solidFill>
                  <a:srgbClr val="B0B0C0"/>
                </a:solidFill>
              </a:defRPr>
            </a:pPr>
            <a:r>
              <a:t>📋 Alert Rules</a:t>
            </a:r>
          </a:p>
          <a:p>
            <a:pPr>
              <a:defRPr sz="1400" b="0">
                <a:solidFill>
                  <a:srgbClr val="B0B0C0"/>
                </a:solidFill>
              </a:defRPr>
            </a:pPr>
            <a:r>
              <a:t>📋 Intervention History</a:t>
            </a:r>
          </a:p>
          <a:p>
            <a:pPr>
              <a:defRPr sz="1400" b="0">
                <a:solidFill>
                  <a:srgbClr val="B0B0C0"/>
                </a:solidFill>
              </a:defRPr>
            </a:pPr>
            <a:r>
              <a:t>📋 User Roles (privacy)</a:t>
            </a:r>
          </a:p>
          <a:p>
            <a:pPr>
              <a:defRPr sz="1400" b="0">
                <a:solidFill>
                  <a:srgbClr val="B0B0C0"/>
                </a:solidFill>
              </a:defRPr>
            </a:pPr>
            <a:r>
              <a:t>📋 Agent Config</a:t>
            </a:r>
          </a:p>
          <a:p>
            <a:pPr>
              <a:defRPr sz="1400" b="0">
                <a:solidFill>
                  <a:srgbClr val="B0B0C0"/>
                </a:solidFill>
              </a:defRPr>
            </a:pPr>
            <a:r>
              <a:t>📋 Audit Log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C63FF"/>
                </a:solidFill>
              </a:defRPr>
            </a:pPr>
            <a:r>
              <a:t>Privacy &amp; FERPA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EC9B0"/>
                </a:solidFill>
              </a:defRPr>
            </a:pPr>
            <a:r>
              <a:t>Privacy is enforced at the Power Automate flow level — the AI never receives data the user shouldn't see.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39" y="2286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🎓 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59" y="2286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👩‍🏫 Faculty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79" y="2286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🧑‍💼 Advisor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2286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🔧 Admin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88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</a:defRPr>
            </a:pPr>
            <a:r>
              <a:t>Own grades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39" y="2788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EC9B0"/>
                </a:solidFill>
              </a:defRPr>
            </a:pPr>
            <a:r>
              <a:t>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59" y="2788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</a:defRPr>
            </a:pPr>
            <a: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79" y="2788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</a:defRPr>
            </a:pPr>
            <a: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2788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EC9B0"/>
                </a:solidFill>
              </a:defRPr>
            </a:pPr>
            <a:r>
              <a:t>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2918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</a:defRPr>
            </a:pPr>
            <a:r>
              <a:t>Class students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39" y="32918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</a:defRPr>
            </a:pPr>
            <a: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59" y="32918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EC9B0"/>
                </a:solidFill>
              </a:defRPr>
            </a:pPr>
            <a:r>
              <a:t>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79" y="32918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</a:defRPr>
            </a:pPr>
            <a: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32918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EC9B0"/>
                </a:solidFill>
              </a:defRPr>
            </a:pPr>
            <a:r>
              <a:t>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94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</a:defRPr>
            </a:pPr>
            <a:r>
              <a:t>Advisees (full)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39" y="3794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</a:defRPr>
            </a:pPr>
            <a: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59" y="3794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</a:defRPr>
            </a:pPr>
            <a:r>
              <a:t>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79" y="3794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EC9B0"/>
                </a:solidFill>
              </a:defRPr>
            </a:pPr>
            <a:r>
              <a:t>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3794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EC9B0"/>
                </a:solidFill>
              </a:defRPr>
            </a:pPr>
            <a:r>
              <a:t>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297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</a:defRPr>
            </a:pPr>
            <a:r>
              <a:t>Career goals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39" y="4297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</a:defRPr>
            </a:pPr>
            <a:r>
              <a:t>✅ own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59" y="4297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5555"/>
                </a:solidFill>
              </a:defRPr>
            </a:pPr>
            <a:r>
              <a:t>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79" y="4297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EC9B0"/>
                </a:solidFill>
              </a:defRPr>
            </a:pPr>
            <a:r>
              <a:t>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4297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EC9B0"/>
                </a:solidFill>
              </a:defRPr>
            </a:pPr>
            <a:r>
              <a:t>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800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</a:defRPr>
            </a:pPr>
            <a:r>
              <a:t>Interventions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34639" y="4800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5555"/>
                </a:solidFill>
              </a:defRPr>
            </a:pPr>
            <a:r>
              <a:t>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59" y="4800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5555"/>
                </a:solidFill>
              </a:defRPr>
            </a:pPr>
            <a:r>
              <a:t>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79" y="4800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EC9B0"/>
                </a:solidFill>
              </a:defRPr>
            </a:pPr>
            <a:r>
              <a:t>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800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EC9B0"/>
                </a:solidFill>
              </a:defRPr>
            </a:pPr>
            <a:r>
              <a:t>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303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</a:defRPr>
            </a:pPr>
            <a:r>
              <a:t>Dept aggregates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34639" y="5303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5555"/>
                </a:solidFill>
              </a:defRPr>
            </a:pPr>
            <a:r>
              <a:t>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37759" y="5303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5555"/>
                </a:solidFill>
              </a:defRPr>
            </a:pPr>
            <a:r>
              <a:t>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79" y="5303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5555"/>
                </a:solidFill>
              </a:defRPr>
            </a:pPr>
            <a:r>
              <a:t>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5303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EC9B0"/>
                </a:solidFill>
              </a:defRPr>
            </a:pPr>
            <a:r>
              <a:t>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C63FF"/>
                </a:solidFill>
              </a:defRPr>
            </a:pPr>
            <a:r>
              <a:t>Impact &amp; 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Metric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371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Before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71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After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1371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0C0"/>
                </a:solidFill>
              </a:defRPr>
            </a:pPr>
            <a:r>
              <a:t>At-risk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011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5555"/>
                </a:solidFill>
              </a:defRPr>
            </a:pPr>
            <a:r>
              <a:t>4-6 weeks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011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EC9B0"/>
                </a:solidFill>
              </a:defRPr>
            </a:pPr>
            <a:r>
              <a:t>1 week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2011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D700"/>
                </a:solidFill>
              </a:defRPr>
            </a:pPr>
            <a:r>
              <a:t>⚡ 80% faster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34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0C0"/>
                </a:solidFill>
              </a:defRPr>
            </a:pPr>
            <a:r>
              <a:t>Advisor review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834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5555"/>
                </a:solidFill>
              </a:defRPr>
            </a:pPr>
            <a:r>
              <a:t>2 hrs/week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834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EC9B0"/>
                </a:solidFill>
              </a:defRPr>
            </a:pPr>
            <a:r>
              <a:t>20 min/week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2834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D700"/>
                </a:solidFill>
              </a:defRPr>
            </a:pPr>
            <a:r>
              <a:t>⚡ 83% reduction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657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0C0"/>
                </a:solidFill>
              </a:defRPr>
            </a:pPr>
            <a:r>
              <a:t>First-year retention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657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5555"/>
                </a:solidFill>
              </a:defRPr>
            </a:pPr>
            <a:r>
              <a:t>~75%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657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EC9B0"/>
                </a:solidFill>
              </a:defRPr>
            </a:pPr>
            <a:r>
              <a:t>~85%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3657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D700"/>
                </a:solidFill>
              </a:defRPr>
            </a:pPr>
            <a:r>
              <a:t>⚡ +10% improvement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4805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0C0"/>
                </a:solidFill>
              </a:defRPr>
            </a:pPr>
            <a:r>
              <a:t>Cost vs alternatives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44805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5555"/>
                </a:solidFill>
              </a:defRPr>
            </a:pPr>
            <a:r>
              <a:t>$100K+ (EAB, Starfish)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4805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EC9B0"/>
                </a:solidFill>
              </a:defRPr>
            </a:pPr>
            <a:r>
              <a:t>$0 incremental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4480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D700"/>
                </a:solidFill>
              </a:defRPr>
            </a:pPr>
            <a:r>
              <a:t>⚡ Free on existing M365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C63FF"/>
                </a:solidFill>
              </a:defRPr>
            </a:pPr>
            <a:r>
              <a:t>Deploy in ~30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C63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Run provisioning script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783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</a:defRPr>
            </a:pPr>
            <a:r>
              <a:t>Creates SharePoint site + 9 lists + sample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1554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4EC9B0"/>
                </a:solidFill>
              </a:defRPr>
            </a:pPr>
            <a:r>
              <a:t>5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C63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Create Entra security groups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606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</a:defRPr>
            </a:pPr>
            <a:r>
              <a:t>UniGuard-Faculty, Advisors, Students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2377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4EC9B0"/>
                </a:solidFill>
              </a:defRPr>
            </a:pPr>
            <a:r>
              <a:t>2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089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C63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108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Import solution .zip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429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</a:defRPr>
            </a:pPr>
            <a:r>
              <a:t>Upload at make.powerapps.com → Solutions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3200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4EC9B0"/>
                </a:solidFill>
              </a:defRPr>
            </a:pPr>
            <a:r>
              <a:t>2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31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C63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931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Create Copilot Studio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251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</a:defRPr>
            </a:pPr>
            <a:r>
              <a:t>Instructions + Knowledge + Flow + Topic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4023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4EC9B0"/>
                </a:solidFill>
              </a:defRPr>
            </a:pPr>
            <a:r>
              <a:t>15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7548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C63FF"/>
                </a:solidFill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Publish to Teams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5074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</a:defRPr>
            </a:pPr>
            <a:r>
              <a:t>Publish → Channels → Teams → Turn 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4846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4EC9B0"/>
                </a:solidFill>
              </a:defRPr>
            </a:pPr>
            <a:r>
              <a:t>1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577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C63FF"/>
                </a:solidFill>
              </a:defRPr>
            </a:pPr>
            <a: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5577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Test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589787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</a:defRPr>
            </a:pPr>
            <a:r>
              <a:t>"Show me at-risk students" → it works!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566927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4EC9B0"/>
                </a:solidFill>
              </a:defRPr>
            </a:pPr>
            <a:r>
              <a:t>5 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C63FF"/>
                </a:solidFill>
              </a:defRPr>
            </a:pPr>
            <a:r>
              <a:t>github.com/pratikbhusal18/UniGuard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🎓 UniGuard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C63FF"/>
                </a:solidFill>
              </a:defRPr>
            </a:pPr>
            <a:r>
              <a:t>Every student deserves to be seen before they fall behind.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C63FF"/>
                </a:solidFill>
              </a:defRPr>
            </a:pPr>
            <a:r>
              <a:t>🔗  github.com/pratikbhusal18/UniGuard</a:t>
            </a:r>
          </a:p>
          <a:p>
            <a:pPr>
              <a:defRPr sz="1200" b="0">
                <a:solidFill>
                  <a:srgbClr val="FFFFFF"/>
                </a:solidFill>
              </a:defRPr>
            </a:pPr>
          </a:p>
          <a:p>
            <a:pPr algn="ctr">
              <a:defRPr sz="1600" b="0">
                <a:solidFill>
                  <a:srgbClr val="B0B0C0"/>
                </a:solidFill>
              </a:defRPr>
            </a:pPr>
            <a:r>
              <a:t>Open source · MIT licensed · Ready to deploy</a:t>
            </a:r>
          </a:p>
          <a:p>
            <a:pPr>
              <a:defRPr sz="1200" b="0">
                <a:solidFill>
                  <a:srgbClr val="FFFFFF"/>
                </a:solidFill>
              </a:defRPr>
            </a:pPr>
          </a:p>
          <a:p>
            <a:pPr algn="ctr">
              <a:defRPr sz="1800" b="0">
                <a:solidFill>
                  <a:srgbClr val="4EC9B0"/>
                </a:solidFill>
              </a:defRPr>
            </a:pPr>
            <a:r>
              <a:t>Feedback, PRs, and ideas welcome!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